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2" y="17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68010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7552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7241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69210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12566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52646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07621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711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9375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ska 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3640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 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4707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52778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12009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 cit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r-HR"/>
              <a:t>Kliknite da biste uredili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02706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ili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r-HR"/>
              <a:t>Kliknite da biste uredili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4571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678998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37214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E34FD98-5FC0-4750-A438-9F769B2A1306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E172C35-A23E-4570-85D4-4EE1B78C70A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77234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A672405-5F81-4E97-B4FC-E7F2CC16F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0E4DA6E-C69D-87F7-39AE-C44D2754E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6542" y="990601"/>
            <a:ext cx="6054045" cy="4632960"/>
          </a:xfrm>
        </p:spPr>
        <p:txBody>
          <a:bodyPr anchor="ctr">
            <a:normAutofit/>
          </a:bodyPr>
          <a:lstStyle/>
          <a:p>
            <a:pPr algn="l"/>
            <a:r>
              <a:rPr lang="hr-HR" dirty="0" err="1"/>
              <a:t>Rop</a:t>
            </a:r>
            <a:r>
              <a:rPr lang="hr-HR" dirty="0"/>
              <a:t> </a:t>
            </a:r>
            <a:r>
              <a:rPr lang="hr-HR" dirty="0" err="1"/>
              <a:t>chaining</a:t>
            </a:r>
            <a:endParaRPr lang="hr-HR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D464A1EC-4B32-7051-CB50-A33403B2D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1412" y="990600"/>
            <a:ext cx="3191623" cy="4632960"/>
          </a:xfrm>
        </p:spPr>
        <p:txBody>
          <a:bodyPr anchor="ctr">
            <a:normAutofit/>
          </a:bodyPr>
          <a:lstStyle/>
          <a:p>
            <a:endParaRPr lang="hr-HR" dirty="0"/>
          </a:p>
          <a:p>
            <a:r>
              <a:rPr lang="hr-HR" dirty="0"/>
              <a:t>Kolegij: Sigurnost informacijskih sustava</a:t>
            </a:r>
          </a:p>
          <a:p>
            <a:endParaRPr lang="hr-HR" dirty="0"/>
          </a:p>
          <a:p>
            <a:r>
              <a:rPr lang="hr-HR" dirty="0"/>
              <a:t>Izradili: Špiro Pravdić, Ivan Račan, Ivan Šango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86C303-74D6-4DF3-9113-E0A374D71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769" y="2057400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827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B0B1F65-3877-63B6-2875-706B21D0C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Uvod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985A983-5428-35CE-50E3-5BA8B771D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>
                <a:effectLst/>
              </a:rPr>
              <a:t>Napredna tehnika eksploatacije</a:t>
            </a:r>
          </a:p>
          <a:p>
            <a:r>
              <a:rPr lang="hr-HR" dirty="0">
                <a:effectLst/>
              </a:rPr>
              <a:t>Izvršavanje proizvoljnog koda (ili operacije)</a:t>
            </a:r>
          </a:p>
          <a:p>
            <a:r>
              <a:rPr lang="hr-HR" dirty="0">
                <a:effectLst/>
              </a:rPr>
              <a:t>NX/DEP – onemogućava izvršavanje koda na stogu</a:t>
            </a:r>
          </a:p>
          <a:p>
            <a:endParaRPr lang="hr-HR" dirty="0">
              <a:effectLst/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400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113D07D-8599-A695-A92D-F3EDA3466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ROP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5928649-4745-7EF4-04A0-7BA03DABD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err="1">
                <a:effectLst/>
              </a:rPr>
              <a:t>Return-Oriented</a:t>
            </a:r>
            <a:r>
              <a:rPr lang="hr-HR" dirty="0">
                <a:effectLst/>
              </a:rPr>
              <a:t> </a:t>
            </a:r>
            <a:r>
              <a:rPr lang="hr-HR" dirty="0" err="1">
                <a:effectLst/>
              </a:rPr>
              <a:t>Programming</a:t>
            </a:r>
            <a:endParaRPr lang="hr-HR" dirty="0">
              <a:effectLst/>
            </a:endParaRPr>
          </a:p>
          <a:p>
            <a:r>
              <a:rPr lang="hr-HR" dirty="0">
                <a:effectLst/>
              </a:rPr>
              <a:t>Koristi postojeći kod iz programa ili biblioteka</a:t>
            </a:r>
          </a:p>
          <a:p>
            <a:r>
              <a:rPr lang="hr-HR" dirty="0">
                <a:effectLst/>
              </a:rPr>
              <a:t>Gadget - </a:t>
            </a:r>
            <a:r>
              <a:rPr lang="pl-PL" dirty="0">
                <a:effectLst/>
              </a:rPr>
              <a:t>uvijek završava instrukcijom za povratak (ret)</a:t>
            </a:r>
            <a:endParaRPr lang="hr-HR" dirty="0">
              <a:effectLst/>
            </a:endParaRPr>
          </a:p>
          <a:p>
            <a:r>
              <a:rPr lang="hr-HR" dirty="0">
                <a:effectLst/>
              </a:rPr>
              <a:t>unutar .</a:t>
            </a:r>
            <a:r>
              <a:rPr lang="hr-HR" dirty="0" err="1">
                <a:effectLst/>
              </a:rPr>
              <a:t>text</a:t>
            </a:r>
            <a:r>
              <a:rPr lang="hr-HR" dirty="0">
                <a:effectLst/>
              </a:rPr>
              <a:t> sekcije binarnih datoteka koja je označena kao izvršna </a:t>
            </a:r>
          </a:p>
        </p:txBody>
      </p:sp>
    </p:spTree>
    <p:extLst>
      <p:ext uri="{BB962C8B-B14F-4D97-AF65-F5344CB8AC3E}">
        <p14:creationId xmlns:p14="http://schemas.microsoft.com/office/powerpoint/2010/main" val="2084721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C7A4C9D-79A5-2D34-FF30-56DD66EC2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5" y="609600"/>
            <a:ext cx="5122606" cy="1905000"/>
          </a:xfrm>
        </p:spPr>
        <p:txBody>
          <a:bodyPr>
            <a:normAutofit/>
          </a:bodyPr>
          <a:lstStyle/>
          <a:p>
            <a:r>
              <a:rPr lang="hr-HR" dirty="0" err="1"/>
              <a:t>Rop</a:t>
            </a:r>
            <a:r>
              <a:rPr lang="hr-HR" dirty="0"/>
              <a:t> </a:t>
            </a:r>
            <a:r>
              <a:rPr lang="hr-HR" dirty="0" err="1"/>
              <a:t>chaining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4EFF0DD-3F2D-705A-CB23-B009D286A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65" y="2666999"/>
            <a:ext cx="5122606" cy="3216276"/>
          </a:xfrm>
        </p:spPr>
        <p:txBody>
          <a:bodyPr anchor="t">
            <a:normAutofit/>
          </a:bodyPr>
          <a:lstStyle/>
          <a:p>
            <a:r>
              <a:rPr lang="hr-HR" dirty="0">
                <a:effectLst/>
              </a:rPr>
              <a:t> mehanizam koji manipulira </a:t>
            </a:r>
            <a:r>
              <a:rPr lang="hr-HR" dirty="0" err="1">
                <a:effectLst/>
              </a:rPr>
              <a:t>stackom</a:t>
            </a:r>
            <a:r>
              <a:rPr lang="hr-HR" dirty="0">
                <a:effectLst/>
              </a:rPr>
              <a:t> da bi se tok izvršavanja preusmjeravao s jednog Gadgeta na drugi, sve dok se ne izvrši željena zlonamjerna operacija</a:t>
            </a:r>
          </a:p>
          <a:p>
            <a:endParaRPr lang="hr-HR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81168200-EF1A-9FE5-396E-D4EACA924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92" y="904337"/>
            <a:ext cx="5451627" cy="4729285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484606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4ABD1F2-D28F-B56F-469E-B2F4D7AB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Plan rada za praktični dio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F2640A1-555A-9E66-3F6D-8C55EF6F6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dirty="0" err="1"/>
              <a:t>Debian</a:t>
            </a:r>
            <a:r>
              <a:rPr lang="hr-HR" dirty="0"/>
              <a:t> 10 i386 i Kali Linux</a:t>
            </a:r>
          </a:p>
          <a:p>
            <a:r>
              <a:rPr lang="hr-HR" dirty="0"/>
              <a:t>Mrežna izolacija</a:t>
            </a:r>
          </a:p>
          <a:p>
            <a:r>
              <a:rPr lang="hr-HR" dirty="0"/>
              <a:t>ROP </a:t>
            </a:r>
            <a:r>
              <a:rPr lang="hr-HR" dirty="0" err="1"/>
              <a:t>emporium</a:t>
            </a:r>
            <a:r>
              <a:rPr lang="hr-HR" dirty="0"/>
              <a:t> datoteka</a:t>
            </a:r>
          </a:p>
          <a:p>
            <a:r>
              <a:rPr lang="hr-HR" dirty="0"/>
              <a:t>GDB određivanje </a:t>
            </a:r>
            <a:r>
              <a:rPr lang="hr-HR" dirty="0" err="1"/>
              <a:t>offseta</a:t>
            </a:r>
            <a:endParaRPr lang="hr-HR" dirty="0"/>
          </a:p>
          <a:p>
            <a:r>
              <a:rPr lang="hr-HR" dirty="0" err="1"/>
              <a:t>ROPgadget</a:t>
            </a:r>
            <a:r>
              <a:rPr lang="hr-HR" dirty="0"/>
              <a:t> za traženje gadgeta</a:t>
            </a:r>
          </a:p>
          <a:p>
            <a:r>
              <a:rPr lang="hr-HR" dirty="0"/>
              <a:t>Izrada ROP lanca s </a:t>
            </a:r>
            <a:r>
              <a:rPr lang="hr-HR" dirty="0" err="1"/>
              <a:t>pwntools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682479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F32515-9322-44A5-8C72-4C7BFB461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17F13B-5021-454F-90E5-3AB2383BF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zervirano mjesto sadržaja 3" descr="Slika na kojoj se prikazuje tekst, snimka zaslona&#10;&#10;Sadržaj generiran uz AI možda nije točan.">
            <a:extLst>
              <a:ext uri="{FF2B5EF4-FFF2-40B4-BE49-F238E27FC236}">
                <a16:creationId xmlns:a16="http://schemas.microsoft.com/office/drawing/2014/main" id="{55903489-C7DE-462E-8CA8-8EE45CC38F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275250"/>
            <a:ext cx="10905066" cy="430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093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F32515-9322-44A5-8C72-4C7BFB461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17F13B-5021-454F-90E5-3AB2383BF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zervirano mjesto sadržaja 3" descr="Slika na kojoj se prikazuje tekst, snimka zaslona, Font&#10;&#10;Sadržaj generiran uz AI možda nije točan.">
            <a:extLst>
              <a:ext uri="{FF2B5EF4-FFF2-40B4-BE49-F238E27FC236}">
                <a16:creationId xmlns:a16="http://schemas.microsoft.com/office/drawing/2014/main" id="{E1F331E2-FA01-47D6-ADF6-86C512B0F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0720" y="643467"/>
            <a:ext cx="925056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875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F32515-9322-44A5-8C72-4C7BFB461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17F13B-5021-454F-90E5-3AB2383BF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zervirano mjesto sadržaja 3" descr="Slika na kojoj se prikazuje tekst, snimka zaslona&#10;&#10;Sadržaj generiran uz AI možda nije točan.">
            <a:extLst>
              <a:ext uri="{FF2B5EF4-FFF2-40B4-BE49-F238E27FC236}">
                <a16:creationId xmlns:a16="http://schemas.microsoft.com/office/drawing/2014/main" id="{2E40B86A-C115-34D4-BF23-475F205F3E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120392"/>
            <a:ext cx="10905066" cy="261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731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94F15BB-D155-9B61-2D4C-BAA8DA489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D6D2188-DF35-937E-04D1-D47DF747E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Slika 3" descr="Slika na kojoj se prikazuje tekst, snimka zaslona, Font&#10;&#10;Sadržaj generiran uz AI možda nije točan.">
            <a:extLst>
              <a:ext uri="{FF2B5EF4-FFF2-40B4-BE49-F238E27FC236}">
                <a16:creationId xmlns:a16="http://schemas.microsoft.com/office/drawing/2014/main" id="{D3CC4B4B-E352-F341-AB28-7AAF27F06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87" y="1183078"/>
            <a:ext cx="2316913" cy="4142683"/>
          </a:xfrm>
          <a:prstGeom prst="rect">
            <a:avLst/>
          </a:prstGeom>
        </p:spPr>
      </p:pic>
      <p:pic>
        <p:nvPicPr>
          <p:cNvPr id="5" name="Slika 4" descr="Slika na kojoj se prikazuje tekst, snimka zaslona&#10;&#10;Sadržaj generiran uz AI možda nije točan.">
            <a:extLst>
              <a:ext uri="{FF2B5EF4-FFF2-40B4-BE49-F238E27FC236}">
                <a16:creationId xmlns:a16="http://schemas.microsoft.com/office/drawing/2014/main" id="{F8D549D4-1531-C4B3-B099-C7B19790B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563" y="1183078"/>
            <a:ext cx="9144774" cy="411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16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F32515-9322-44A5-8C72-4C7BFB461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17F13B-5021-454F-90E5-3AB2383BF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zervirano mjesto sadržaja 3" descr="Slika na kojoj se prikazuje tekst, snimka zaslona&#10;&#10;Sadržaj generiran uz AI možda nije točan.">
            <a:extLst>
              <a:ext uri="{FF2B5EF4-FFF2-40B4-BE49-F238E27FC236}">
                <a16:creationId xmlns:a16="http://schemas.microsoft.com/office/drawing/2014/main" id="{CDCA8A99-644B-7009-35BA-8963903F0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98043"/>
            <a:ext cx="10905066" cy="466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520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7CBFF37-90FC-A02D-CD5B-9CF76F16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4363271"/>
            <a:ext cx="8676222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480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pic>
        <p:nvPicPr>
          <p:cNvPr id="4" name="Rezervirano mjesto sadržaja 3" descr="Slika na kojoj se prikazuje tekst, snimka zaslona, Font&#10;&#10;Sadržaj generiran uz AI možda nije točan.">
            <a:extLst>
              <a:ext uri="{FF2B5EF4-FFF2-40B4-BE49-F238E27FC236}">
                <a16:creationId xmlns:a16="http://schemas.microsoft.com/office/drawing/2014/main" id="{1BE40A9D-F8B1-8E2A-3A9D-E8448FCFD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5457" y="2659930"/>
            <a:ext cx="10916463" cy="1582886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071566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F32515-9322-44A5-8C72-4C7BFB461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17F13B-5021-454F-90E5-3AB2383BF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zervirano mjesto sadržaja 3" descr="Slika na kojoj se prikazuje tekst, snimka zaslona, izbornik&#10;&#10;Sadržaj generiran uz AI možda nije točan.">
            <a:extLst>
              <a:ext uri="{FF2B5EF4-FFF2-40B4-BE49-F238E27FC236}">
                <a16:creationId xmlns:a16="http://schemas.microsoft.com/office/drawing/2014/main" id="{AE168320-AF99-A787-7A17-5317A8B08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5495" y="643467"/>
            <a:ext cx="844100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460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F32515-9322-44A5-8C72-4C7BFB461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17F13B-5021-454F-90E5-3AB2383BF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zervirano mjesto sadržaja 3" descr="Slika na kojoj se prikazuje tekst, snimka zaslona, izbornik&#10;&#10;Sadržaj generiran uz AI možda nije točan.">
            <a:extLst>
              <a:ext uri="{FF2B5EF4-FFF2-40B4-BE49-F238E27FC236}">
                <a16:creationId xmlns:a16="http://schemas.microsoft.com/office/drawing/2014/main" id="{CDFF534A-062E-3ADB-6D90-AB5D617F8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8850" y="643467"/>
            <a:ext cx="787429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721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F32515-9322-44A5-8C72-4C7BFB461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17F13B-5021-454F-90E5-3AB2383BF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zervirano mjesto sadržaja 3" descr="Slika na kojoj se prikazuje tekst, snimka zaslona, Font, softver&#10;&#10;Sadržaj generiran uz AI možda nije točan.">
            <a:extLst>
              <a:ext uri="{FF2B5EF4-FFF2-40B4-BE49-F238E27FC236}">
                <a16:creationId xmlns:a16="http://schemas.microsoft.com/office/drawing/2014/main" id="{C948E840-4415-80CA-2B94-9CF7E0B67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6085" y="643467"/>
            <a:ext cx="579982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318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D82A7942-5631-47FC-9908-0E14371AE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20720"/>
            <a:ext cx="10928687" cy="5593813"/>
          </a:xfrm>
          <a:prstGeom prst="roundRect">
            <a:avLst>
              <a:gd name="adj" fmla="val 3812"/>
            </a:avLst>
          </a:prstGeom>
          <a:solidFill>
            <a:srgbClr val="FFFFFF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zervirano mjesto sadržaja 3" descr="Slika na kojoj se prikazuje tekst, Font, snimka zaslona&#10;&#10;Sadržaj generiran uz AI možda nije točan.">
            <a:extLst>
              <a:ext uri="{FF2B5EF4-FFF2-40B4-BE49-F238E27FC236}">
                <a16:creationId xmlns:a16="http://schemas.microsoft.com/office/drawing/2014/main" id="{3661C47C-683F-8C95-2E7A-90CC455C1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7344" y="2571631"/>
            <a:ext cx="9960933" cy="169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202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reža">
  <a:themeElements>
    <a:clrScheme name="Mrež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rež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rež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TM03457485[[fn=Mreža]]</Template>
  <TotalTime>70</TotalTime>
  <Words>123</Words>
  <Application>Microsoft Office PowerPoint</Application>
  <PresentationFormat>Široki zaslon</PresentationFormat>
  <Paragraphs>23</Paragraphs>
  <Slides>15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2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15</vt:i4>
      </vt:variant>
    </vt:vector>
  </HeadingPairs>
  <TitlesOfParts>
    <vt:vector size="18" baseType="lpstr">
      <vt:lpstr>Arial</vt:lpstr>
      <vt:lpstr>Century Gothic</vt:lpstr>
      <vt:lpstr>Mreža</vt:lpstr>
      <vt:lpstr>Rop chaining</vt:lpstr>
      <vt:lpstr>Uvod</vt:lpstr>
      <vt:lpstr>ROP</vt:lpstr>
      <vt:lpstr>Rop chaining</vt:lpstr>
      <vt:lpstr>Plan rada za praktični dio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Šango</dc:creator>
  <cp:lastModifiedBy>Ivan Šango</cp:lastModifiedBy>
  <cp:revision>2</cp:revision>
  <dcterms:created xsi:type="dcterms:W3CDTF">2025-11-19T09:47:40Z</dcterms:created>
  <dcterms:modified xsi:type="dcterms:W3CDTF">2025-12-10T10:58:48Z</dcterms:modified>
</cp:coreProperties>
</file>